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1428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Powitanie. Przedstawienie tematu: prototyp systemu, który łączy realne dane pogodowe (Open-Meteo) i jakości powietrza (GIOŚ) i prognozuje je na kolejne dni siecią LSTM. Przedstawienie zespołu. (~1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Krótki przegląd struktury wystąpienia — 6 punktów wymaganych na ocenę. (~30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Kto za co odpowiadał. Każda osoba przedstawia w demie swoją część. Szczegóły w raporcie indywidualnym. (~1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Definicja problemu: smog to realny problem zdrowotny. Brak jednego narzędzia łączącego pogodę i jakość powietrza z prognozą. Nasz cel — prototyp end-to-end. (~2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Pokazujemy, że to nie tylko model, ale cały pipeline: dane → preprocessing → sekwencje → LSTM → ewaluacja → predykcja. Każdy etap omówimy na kolejnych slajdach. (~1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Dwa źródła. Open-Meteo: pogoda, dane godzinowe (~720 pkt), 30 dni wstecz, pobieramy tylko do teraz. GIOŚ: zanieczyszczenia, v1 API, różne sensory na stacjach, wymaga nagłówków HTTP. (~1.5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Realne dane bywają brudne. Pokazujemy konkretne problemy i rozwiązania. Ostatni punkt to nasza ostatnia poprawka: nie pobieramy dni w przyszłość i dodaliśmy linię „Dziś”. (~2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Dlaczego LSTM: szeregi czasowe, pamięć, sekwencja na sekwencję. Diagram po lewej: dwie warstwy LSTM(64) z Dropout, Dense + Reshape na wyjściu (horyzont × cechy). (~2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Konfiguracja treningu. Split chronologiczny (ważne dla szeregów czasowych). Mały model + Dropout, bo zbiór jest krótki. Skaler zapisujemy, żeby odtworzyć skalę przy predykcji. (~1.5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Uczciwie: to realne wyniki z danych godzinowych (+1 h). MAE jest stabilne i interpretowalne (np. temp ~3°C, wilgotność ~13% błędu względnego). R² jest bliskie 0 / niestabilne (od ~-1 do ~+0.5 między uruchomieniami) — bo zbiór testowy to ~3 dni, a dane GIOŚ o zanieczyszczeniach mają tylko ~3 dni historii. To prototyp, główny kierunek rozwoju = więcej danych. (~2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Dwa kluczowe wykresy z aplikacji. Po lewej zakładka 1 (trend + „Dziś”), po prawej zakładka 3 (prognoza połączona z ostatnim pomiarem, prawdziwe daty na osi). (~1.5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Pokaz na żywo: uruchamiamy aplikację, wybieramy stację, trenujemy szybki model, generujemy prognozę. Trzy zakładki = trzy etapy. Gdyby brakło sieci — zrzuty ekranu jako plan B. (~3–4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Podsumowanie: osiągnęliśmy cel — działający, kompletny prototyp na realnych danych. Świadomi ograniczeń (dane, dokładność pollutantów). (~1.5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 dalej: więcej danych, więcej miast, inne modele do porównania, automatyzacja i baza wyników. Zgodne z sekcją „dalszy rozwój” w sprawozdaniu. (~1 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Podziękowanie i otwarcie na pytania. (~30 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9784080" y="1097280"/>
            <a:ext cx="0" cy="4572000"/>
          </a:xfrm>
          <a:prstGeom prst="line">
            <a:avLst/>
          </a:prstGeom>
          <a:ln w="27940">
            <a:solidFill>
              <a:srgbClr val="FBBF2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9326880" y="7772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BBF24"/>
                </a:solidFill>
                <a:latin typeface="Trebuchet MS"/>
              </a:rPr>
              <a:t>Dziś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9601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Trebuchet MS"/>
              </a:rPr>
              <a:t>AirSense Weather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300" b="0" i="0">
                <a:solidFill>
                  <a:srgbClr val="CADCFC"/>
                </a:solidFill>
                <a:latin typeface="Calibri"/>
              </a:rPr>
              <a:t>Inteligentny system predykcji jakości powietrza i pogody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0332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BBF24"/>
                </a:solidFill>
                <a:latin typeface="Calibri"/>
              </a:rPr>
              <a:t>Sekwencyjny model LSTM  ·  Streamlit  ·  dane GIOŚ + Open-Meteo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21208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Trebuchet MS"/>
              </a:rPr>
              <a:t>Grupa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623560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Jakub Moszyński  ·  Damian Tomczyk  ·  Nikol Olszewska  ·  Łukasz Duss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75488"/>
            <a:ext cx="603504" cy="6035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E2238"/>
                </a:solidFill>
                <a:latin typeface="Trebuchet MS"/>
              </a:rPr>
              <a:t>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5024" y="457200"/>
            <a:ext cx="103327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2263D"/>
                </a:solidFill>
                <a:latin typeface="Trebuchet MS"/>
              </a:rPr>
              <a:t>Plan prezentacji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34924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59" y="2084831"/>
            <a:ext cx="566928" cy="5669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E2238"/>
                </a:solidFill>
                <a:latin typeface="Trebuchet M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72768" y="1783080"/>
            <a:ext cx="4160520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2263D"/>
                </a:solidFill>
                <a:latin typeface="Trebuchet MS"/>
              </a:rPr>
              <a:t>Przegląd projektu i problem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7" y="1783080"/>
            <a:ext cx="534924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556247" y="2084831"/>
            <a:ext cx="566928" cy="5669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E2238"/>
                </a:solidFill>
                <a:latin typeface="Trebuchet M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6055" y="1783080"/>
            <a:ext cx="4160520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2263D"/>
                </a:solidFill>
                <a:latin typeface="Trebuchet MS"/>
              </a:rPr>
              <a:t>Dane i wyzwania preprocessingu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64408"/>
            <a:ext cx="534924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2959" y="3566160"/>
            <a:ext cx="566928" cy="5669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E2238"/>
                </a:solidFill>
                <a:latin typeface="Trebuchet M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3264408"/>
            <a:ext cx="4160520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2263D"/>
                </a:solidFill>
                <a:latin typeface="Trebuchet MS"/>
              </a:rPr>
              <a:t>Model AI i jego uzasadnienie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7" y="3264408"/>
            <a:ext cx="534924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56247" y="3566160"/>
            <a:ext cx="566928" cy="5669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E2238"/>
                </a:solidFill>
                <a:latin typeface="Trebuchet M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6055" y="3264408"/>
            <a:ext cx="4160520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2263D"/>
                </a:solidFill>
                <a:latin typeface="Trebuchet MS"/>
              </a:rPr>
              <a:t>Wyniki, metryki i wizualizacje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45736"/>
            <a:ext cx="534924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2959" y="5047488"/>
            <a:ext cx="566928" cy="5669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E2238"/>
                </a:solidFill>
                <a:latin typeface="Trebuchet M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4745736"/>
            <a:ext cx="4160520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2263D"/>
                </a:solidFill>
                <a:latin typeface="Trebuchet MS"/>
              </a:rPr>
              <a:t>Demo aplikacji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7" y="4745736"/>
            <a:ext cx="534924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56247" y="5047488"/>
            <a:ext cx="566928" cy="5669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0E2238"/>
                </a:solidFill>
                <a:latin typeface="Trebuchet MS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06055" y="4745736"/>
            <a:ext cx="4160520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2263D"/>
                </a:solidFill>
                <a:latin typeface="Trebuchet MS"/>
              </a:rPr>
              <a:t>Wnioski i kierunki rozwoju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37376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80"/>
                </a:solidFill>
                <a:latin typeface="Calibri"/>
              </a:rPr>
              <a:t>AirSense Weather AI   ·   Grupa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75488"/>
            <a:ext cx="603504" cy="6035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E2238"/>
                </a:solidFill>
                <a:latin typeface="Trebuchet MS"/>
              </a:rPr>
              <a:t>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5024" y="457200"/>
            <a:ext cx="103327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2263D"/>
                </a:solidFill>
                <a:latin typeface="Trebuchet MS"/>
              </a:rPr>
              <a:t>Zespół i podział pracy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34924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2093976"/>
            <a:ext cx="310896" cy="310896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35024" y="2020824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2263D"/>
                </a:solidFill>
                <a:latin typeface="Trebuchet MS"/>
              </a:rPr>
              <a:t>Jakub Moszyński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2459736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B82F6"/>
                </a:solidFill>
                <a:latin typeface="Calibri"/>
              </a:rPr>
              <a:t>Data Engineer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898648"/>
            <a:ext cx="4764024" cy="758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80"/>
                </a:solidFill>
                <a:latin typeface="Calibri"/>
              </a:rPr>
              <a:t>Integracja API GIOŚ i Open-Meteo, pobieranie i czyszczenie danych, przygotowanie sekwencji czasowych.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7" y="1783080"/>
            <a:ext cx="534924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74536" y="2093976"/>
            <a:ext cx="310896" cy="31089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68312" y="2020824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2263D"/>
                </a:solidFill>
                <a:latin typeface="Trebuchet MS"/>
              </a:rPr>
              <a:t>Damian Tomczyk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8312" y="2459736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6A34A"/>
                </a:solidFill>
                <a:latin typeface="Calibri"/>
              </a:rPr>
              <a:t>Data 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4536" y="2898648"/>
            <a:ext cx="4764024" cy="758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80"/>
                </a:solidFill>
                <a:latin typeface="Calibri"/>
              </a:rPr>
              <a:t>Analiza eksploracyjna (EDA), dashboard Streamlit, wizualizacje trendów w Plotly, linia „Dziś”.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50791"/>
            <a:ext cx="534924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41247" y="4361688"/>
            <a:ext cx="310896" cy="3108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35024" y="4288536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2263D"/>
                </a:solidFill>
                <a:latin typeface="Trebuchet MS"/>
              </a:rPr>
              <a:t>Nikol Olszewska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4727448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7C3AED"/>
                </a:solidFill>
                <a:latin typeface="Calibri"/>
              </a:rPr>
              <a:t>Deep Learning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5166359"/>
            <a:ext cx="4764024" cy="758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80"/>
                </a:solidFill>
                <a:latin typeface="Calibri"/>
              </a:rPr>
              <a:t>Architektura LSTM Seq2Seq, Dropout, skalowanie danych, dynamiczna liczba cech.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7" y="4050791"/>
            <a:ext cx="5349240" cy="19933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74536" y="4361688"/>
            <a:ext cx="310896" cy="31089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68312" y="4288536"/>
            <a:ext cx="4343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2263D"/>
                </a:solidFill>
                <a:latin typeface="Trebuchet MS"/>
              </a:rPr>
              <a:t>Łukasz Duss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4727448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BBF24"/>
                </a:solidFill>
                <a:latin typeface="Calibri"/>
              </a:rPr>
              <a:t>ML Analyst / Project Manager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4536" y="5166359"/>
            <a:ext cx="4764024" cy="7589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80"/>
                </a:solidFill>
                <a:latin typeface="Calibri"/>
              </a:rPr>
              <a:t>Integracja aplikacji, podział 80/10/10, ewaluacja MAE/MSE/RMSE/R², rejestr modeli, Session State.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37376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80"/>
                </a:solidFill>
                <a:latin typeface="Calibri"/>
              </a:rPr>
              <a:t>AirSense Weather AI   ·   Grupa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75488"/>
            <a:ext cx="603504" cy="6035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E2238"/>
                </a:solidFill>
                <a:latin typeface="Trebuchet MS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5024" y="457200"/>
            <a:ext cx="103327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2263D"/>
                </a:solidFill>
                <a:latin typeface="Trebuchet MS"/>
              </a:rPr>
              <a:t>Problem: jakość powietrza i prognoza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649224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3B82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2263D"/>
                </a:solidFill>
                <a:latin typeface="Calibri"/>
              </a:rPr>
              <a:t>Polska zmaga się z wysokim poziomem smogu (PM10, PM2.5, NO2), szczególnie w sezonie grzewczym.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3B82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2263D"/>
                </a:solidFill>
                <a:latin typeface="Calibri"/>
              </a:rPr>
              <a:t>Decyzje (aktywność na zewnątrz, ostrzeżenia) wymagają prognozy na kolejne dni — nie tylko bieżącego odczytu.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3B82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2263D"/>
                </a:solidFill>
                <a:latin typeface="Calibri"/>
              </a:rPr>
              <a:t>Dane są rozproszone: pogoda w jednym źródle, zanieczyszczenia w drugim.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3B82F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2263D"/>
                </a:solidFill>
                <a:latin typeface="Calibri"/>
              </a:rPr>
              <a:t>Potrzebny jest system, który łączy te źródła i automatycznie prognozuje kolejne dni.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783080"/>
            <a:ext cx="4279392" cy="2286000"/>
          </a:xfrm>
          <a:prstGeom prst="roundRect">
            <a:avLst>
              <a:gd name="adj" fmla="val 6000"/>
            </a:avLst>
          </a:prstGeom>
          <a:solidFill>
            <a:srgbClr val="0E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80960" y="20116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BBF24"/>
                </a:solidFill>
                <a:latin typeface="Trebuchet MS"/>
              </a:rPr>
              <a:t>Nasz 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542032"/>
            <a:ext cx="365760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FFFFFF"/>
                </a:solidFill>
                <a:latin typeface="Calibri"/>
              </a:rPr>
              <a:t>Prototyp łączący realne dane pogodowe i środowiskowe i prognozujący je krótkoterminowo (godzinowo) za pomocą sieci LSTM.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4343400"/>
            <a:ext cx="1417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3B82F6"/>
                </a:solidFill>
                <a:latin typeface="Trebuchet MS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5029200"/>
            <a:ext cx="1417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C6B80"/>
                </a:solidFill>
                <a:latin typeface="Calibri"/>
              </a:rPr>
              <a:t>stacji pomiarowych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42248" y="4343400"/>
            <a:ext cx="1417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3B82F6"/>
                </a:solidFill>
                <a:latin typeface="Trebuchet MS"/>
              </a:rPr>
              <a:t>+1–24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42248" y="5029200"/>
            <a:ext cx="1417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C6B80"/>
                </a:solidFill>
                <a:latin typeface="Calibri"/>
              </a:rPr>
              <a:t>godziny prognozy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23576" y="4343400"/>
            <a:ext cx="1417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3B82F6"/>
                </a:solidFill>
                <a:latin typeface="Trebuchet MS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23576" y="5029200"/>
            <a:ext cx="14173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C6B80"/>
                </a:solidFill>
                <a:latin typeface="Calibri"/>
              </a:rPr>
              <a:t>śledzonych cech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37376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80"/>
                </a:solidFill>
                <a:latin typeface="Calibri"/>
              </a:rPr>
              <a:t>AirSense Weather AI   ·   Grupa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75488"/>
            <a:ext cx="603504" cy="6035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E2238"/>
                </a:solidFill>
                <a:latin typeface="Trebuchet MS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5024" y="457200"/>
            <a:ext cx="103327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2263D"/>
                </a:solidFill>
                <a:latin typeface="Trebuchet MS"/>
              </a:rPr>
              <a:t>Pełny pipeline Machine Learning</a:t>
            </a:r>
          </a:p>
        </p:txBody>
      </p:sp>
      <p:pic>
        <p:nvPicPr>
          <p:cNvPr id="4" name="Picture 3" descr="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31720"/>
            <a:ext cx="11091672" cy="28685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" y="5319128"/>
            <a:ext cx="109728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 dirty="0">
                <a:solidFill>
                  <a:srgbClr val="12263D"/>
                </a:solidFill>
                <a:latin typeface="Calibri"/>
              </a:rPr>
              <a:t>Od </a:t>
            </a:r>
            <a:r>
              <a:rPr sz="1500" b="0" i="0" dirty="0" err="1">
                <a:solidFill>
                  <a:srgbClr val="12263D"/>
                </a:solidFill>
                <a:latin typeface="Calibri"/>
              </a:rPr>
              <a:t>pobrania</a:t>
            </a:r>
            <a:r>
              <a:rPr sz="1500" b="0" i="0" dirty="0">
                <a:solidFill>
                  <a:srgbClr val="122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2263D"/>
                </a:solidFill>
                <a:latin typeface="Calibri"/>
              </a:rPr>
              <a:t>danych</a:t>
            </a:r>
            <a:r>
              <a:rPr sz="1500" b="0" i="0" dirty="0">
                <a:solidFill>
                  <a:srgbClr val="12263D"/>
                </a:solidFill>
                <a:latin typeface="Calibri"/>
              </a:rPr>
              <a:t> z </a:t>
            </a:r>
            <a:r>
              <a:rPr sz="1500" b="0" i="0" dirty="0" err="1">
                <a:solidFill>
                  <a:srgbClr val="12263D"/>
                </a:solidFill>
                <a:latin typeface="Calibri"/>
              </a:rPr>
              <a:t>publicznych</a:t>
            </a:r>
            <a:r>
              <a:rPr sz="1500" b="0" i="0" dirty="0">
                <a:solidFill>
                  <a:srgbClr val="12263D"/>
                </a:solidFill>
                <a:latin typeface="Calibri"/>
              </a:rPr>
              <a:t> API, </a:t>
            </a:r>
            <a:r>
              <a:rPr sz="1500" b="0" i="0" dirty="0" err="1">
                <a:solidFill>
                  <a:srgbClr val="12263D"/>
                </a:solidFill>
                <a:latin typeface="Calibri"/>
              </a:rPr>
              <a:t>przez</a:t>
            </a:r>
            <a:r>
              <a:rPr sz="1500" b="0" i="0" dirty="0">
                <a:solidFill>
                  <a:srgbClr val="122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2263D"/>
                </a:solidFill>
                <a:latin typeface="Calibri"/>
              </a:rPr>
              <a:t>czyszczenie</a:t>
            </a:r>
            <a:r>
              <a:rPr sz="1500" b="0" i="0" dirty="0">
                <a:solidFill>
                  <a:srgbClr val="122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2263D"/>
                </a:solidFill>
                <a:latin typeface="Calibri"/>
              </a:rPr>
              <a:t>i</a:t>
            </a:r>
            <a:r>
              <a:rPr sz="1500" b="0" i="0" dirty="0">
                <a:solidFill>
                  <a:srgbClr val="122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2263D"/>
                </a:solidFill>
                <a:latin typeface="Calibri"/>
              </a:rPr>
              <a:t>sekwencje</a:t>
            </a:r>
            <a:r>
              <a:rPr sz="1500" b="0" i="0" dirty="0">
                <a:solidFill>
                  <a:srgbClr val="122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2263D"/>
                </a:solidFill>
                <a:latin typeface="Calibri"/>
              </a:rPr>
              <a:t>czasowe</a:t>
            </a:r>
            <a:r>
              <a:rPr sz="1500" b="0" i="0" dirty="0">
                <a:solidFill>
                  <a:srgbClr val="12263D"/>
                </a:solidFill>
                <a:latin typeface="Calibri"/>
              </a:rPr>
              <a:t>, po model LSTM, </a:t>
            </a:r>
            <a:r>
              <a:rPr sz="1500" b="0" i="0" dirty="0" err="1">
                <a:solidFill>
                  <a:srgbClr val="12263D"/>
                </a:solidFill>
                <a:latin typeface="Calibri"/>
              </a:rPr>
              <a:t>ewaluację</a:t>
            </a:r>
            <a:r>
              <a:rPr sz="1500" b="0" i="0" dirty="0">
                <a:solidFill>
                  <a:srgbClr val="122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2263D"/>
                </a:solidFill>
                <a:latin typeface="Calibri"/>
              </a:rPr>
              <a:t>i</a:t>
            </a:r>
            <a:r>
              <a:rPr sz="1500" b="0" i="0" dirty="0">
                <a:solidFill>
                  <a:srgbClr val="122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2263D"/>
                </a:solidFill>
                <a:latin typeface="Calibri"/>
              </a:rPr>
              <a:t>predykcję</a:t>
            </a:r>
            <a:r>
              <a:rPr sz="1500" b="0" i="0" dirty="0">
                <a:solidFill>
                  <a:srgbClr val="12263D"/>
                </a:solidFill>
                <a:latin typeface="Calibri"/>
              </a:rPr>
              <a:t> — </a:t>
            </a:r>
            <a:r>
              <a:rPr sz="1500" b="0" i="0" dirty="0" err="1">
                <a:solidFill>
                  <a:srgbClr val="12263D"/>
                </a:solidFill>
                <a:latin typeface="Calibri"/>
              </a:rPr>
              <a:t>wszystko</a:t>
            </a:r>
            <a:r>
              <a:rPr sz="1500" b="0" i="0" dirty="0">
                <a:solidFill>
                  <a:srgbClr val="12263D"/>
                </a:solidFill>
                <a:latin typeface="Calibri"/>
              </a:rPr>
              <a:t> w </a:t>
            </a:r>
            <a:r>
              <a:rPr sz="1500" b="0" i="0" dirty="0" err="1">
                <a:solidFill>
                  <a:srgbClr val="12263D"/>
                </a:solidFill>
                <a:latin typeface="Calibri"/>
              </a:rPr>
              <a:t>jednej</a:t>
            </a:r>
            <a:r>
              <a:rPr sz="1500" b="0" i="0" dirty="0">
                <a:solidFill>
                  <a:srgbClr val="122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2263D"/>
                </a:solidFill>
                <a:latin typeface="Calibri"/>
              </a:rPr>
              <a:t>aplikacji</a:t>
            </a:r>
            <a:r>
              <a:rPr sz="1500" b="0" i="0" dirty="0">
                <a:solidFill>
                  <a:srgbClr val="122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2263D"/>
                </a:solidFill>
                <a:latin typeface="Calibri"/>
              </a:rPr>
              <a:t>Streamlit</a:t>
            </a:r>
            <a:r>
              <a:rPr sz="1500" b="0" i="0" dirty="0">
                <a:solidFill>
                  <a:srgbClr val="12263D"/>
                </a:solidFill>
                <a:latin typeface="Calibri"/>
              </a:rPr>
              <a:t>. Projekt </a:t>
            </a:r>
            <a:r>
              <a:rPr sz="1500" b="0" i="0" dirty="0" err="1">
                <a:solidFill>
                  <a:srgbClr val="12263D"/>
                </a:solidFill>
                <a:latin typeface="Calibri"/>
              </a:rPr>
              <a:t>obejmuje</a:t>
            </a:r>
            <a:r>
              <a:rPr sz="1500" b="0" i="0" dirty="0">
                <a:solidFill>
                  <a:srgbClr val="122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2263D"/>
                </a:solidFill>
                <a:latin typeface="Calibri"/>
              </a:rPr>
              <a:t>pełny</a:t>
            </a:r>
            <a:r>
              <a:rPr sz="1500" b="0" i="0" dirty="0">
                <a:solidFill>
                  <a:srgbClr val="122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2263D"/>
                </a:solidFill>
                <a:latin typeface="Calibri"/>
              </a:rPr>
              <a:t>cykl</a:t>
            </a:r>
            <a:r>
              <a:rPr sz="1500" b="0" i="0" dirty="0">
                <a:solidFill>
                  <a:srgbClr val="12263D"/>
                </a:solidFill>
                <a:latin typeface="Calibri"/>
              </a:rPr>
              <a:t> ML (</a:t>
            </a:r>
            <a:r>
              <a:rPr sz="1500" b="0" i="0" dirty="0" err="1">
                <a:solidFill>
                  <a:srgbClr val="12263D"/>
                </a:solidFill>
                <a:latin typeface="Calibri"/>
              </a:rPr>
              <a:t>prototyp</a:t>
            </a:r>
            <a:r>
              <a:rPr sz="1500" b="0" i="0" dirty="0">
                <a:solidFill>
                  <a:srgbClr val="122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2263D"/>
                </a:solidFill>
                <a:latin typeface="Calibri"/>
              </a:rPr>
              <a:t>klasy</a:t>
            </a:r>
            <a:r>
              <a:rPr sz="1500" b="0" i="0" dirty="0">
                <a:solidFill>
                  <a:srgbClr val="12263D"/>
                </a:solidFill>
                <a:latin typeface="Calibri"/>
              </a:rPr>
              <a:t> </a:t>
            </a:r>
            <a:r>
              <a:rPr sz="1500" b="0" i="0" dirty="0" err="1">
                <a:solidFill>
                  <a:srgbClr val="12263D"/>
                </a:solidFill>
                <a:latin typeface="Calibri"/>
              </a:rPr>
              <a:t>MLOps</a:t>
            </a:r>
            <a:r>
              <a:rPr sz="1500" b="0" i="0" dirty="0">
                <a:solidFill>
                  <a:srgbClr val="12263D"/>
                </a:solidFill>
                <a:latin typeface="Calibri"/>
              </a:rPr>
              <a:t>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80"/>
                </a:solidFill>
                <a:latin typeface="Calibri"/>
              </a:rPr>
              <a:t>AirSense Weather AI   ·   Grupa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75488"/>
            <a:ext cx="603504" cy="6035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E2238"/>
                </a:solidFill>
                <a:latin typeface="Trebuchet MS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5024" y="457200"/>
            <a:ext cx="103327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2263D"/>
                </a:solidFill>
                <a:latin typeface="Trebuchet MS"/>
              </a:rPr>
              <a:t>Skąd pochodzą dane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4406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" y="2057400"/>
            <a:ext cx="310896" cy="310896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1993392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2263D"/>
                </a:solidFill>
                <a:latin typeface="Trebuchet MS"/>
              </a:rPr>
              <a:t>Open-Meteo — pogoda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484632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3B82F6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2263D"/>
                </a:solidFill>
                <a:latin typeface="Calibri"/>
              </a:rPr>
              <a:t>Temperatura, wilgotność, prędkość wiatru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3B82F6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2263D"/>
                </a:solidFill>
                <a:latin typeface="Calibri"/>
              </a:rPr>
              <a:t>Dane godzinowe (~720 punktów na 30 dni)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3B82F6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2263D"/>
                </a:solidFill>
                <a:latin typeface="Calibri"/>
              </a:rPr>
              <a:t>forecast_days=1 — bez godzin „w przyszłość”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783080"/>
            <a:ext cx="544068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73952" y="2057400"/>
            <a:ext cx="310896" cy="310896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931152" y="1993392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2263D"/>
                </a:solidFill>
                <a:latin typeface="Trebuchet MS"/>
              </a:rPr>
              <a:t>GIOŚ API v1 — zanieczyszczenia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9672" y="2697480"/>
            <a:ext cx="484632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16A34A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2263D"/>
                </a:solidFill>
                <a:latin typeface="Calibri"/>
              </a:rPr>
              <a:t>PM10, PM2.5, NO2, NOx, O3, NO — zależnie od stacji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16A34A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2263D"/>
                </a:solidFill>
                <a:latin typeface="Calibri"/>
              </a:rPr>
              <a:t>Nagłówki HTTP imitujące przeglądarkę (omijają blokady)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1" i="0">
                <a:solidFill>
                  <a:srgbClr val="16A34A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12263D"/>
                </a:solidFill>
                <a:latin typeface="Calibri"/>
              </a:rPr>
              <a:t>Uwaga: API daje tylko ~3 dni historii godzinowej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2263D"/>
                </a:solidFill>
                <a:latin typeface="Calibri"/>
              </a:rPr>
              <a:t>5 stacji pomiarowych:   Zabrze  ·  Warszawa  ·  Kraków  ·  Gdańsk  ·  Wrocław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37376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80"/>
                </a:solidFill>
                <a:latin typeface="Calibri"/>
              </a:rPr>
              <a:t>AirSense Weather AI   ·   Grupa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75488"/>
            <a:ext cx="603504" cy="6035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E2238"/>
                </a:solidFill>
                <a:latin typeface="Trebuchet MS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5024" y="457200"/>
            <a:ext cx="103327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2263D"/>
                </a:solidFill>
                <a:latin typeface="Trebuchet MS"/>
              </a:rPr>
              <a:t>Wyzwania w przygotowaniu danych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764792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25880" y="1691640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2263D"/>
                </a:solidFill>
                <a:latin typeface="Trebuchet MS"/>
              </a:rPr>
              <a:t>Braki w pomiarach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10312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C6B80"/>
                </a:solidFill>
                <a:latin typeface="Calibri"/>
              </a:rPr>
              <a:t>Interpolacja liniowa w obie strony (limit_direction='both').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2679192"/>
            <a:ext cx="457200" cy="45720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25880" y="2606040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2263D"/>
                </a:solidFill>
                <a:latin typeface="Trebuchet MS"/>
              </a:rPr>
              <a:t>Błędne piki czujników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01752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C6B80"/>
                </a:solidFill>
                <a:latin typeface="Calibri"/>
              </a:rPr>
              <a:t>Przycinanie do 1. i 99. percentyla (winsoryzacja).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59359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25880" y="3520440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2263D"/>
                </a:solidFill>
                <a:latin typeface="Trebuchet MS"/>
              </a:rPr>
              <a:t>Różna liczba sensorów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93192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C6B80"/>
                </a:solidFill>
                <a:latin typeface="Calibri"/>
              </a:rPr>
              <a:t>Dynamiczna liczba cech wyznaczana per stacja (CURRENT_FEATURES).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507992"/>
            <a:ext cx="457200" cy="457200"/>
          </a:xfrm>
          <a:prstGeom prst="ellipse">
            <a:avLst/>
          </a:prstGeom>
          <a:solidFill>
            <a:srgbClr val="0EA5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25880" y="4434840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2263D"/>
                </a:solidFill>
                <a:latin typeface="Trebuchet MS"/>
              </a:rPr>
              <a:t>Blokady API GIOŚ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84632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C6B80"/>
                </a:solidFill>
                <a:latin typeface="Calibri"/>
              </a:rPr>
              <a:t>Nagłówki HTTP (User-Agent, Referer) + obsługa błędów.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5422392"/>
            <a:ext cx="457200" cy="45720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25880" y="5349240"/>
            <a:ext cx="10241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2263D"/>
                </a:solidFill>
                <a:latin typeface="Trebuchet MS"/>
              </a:rPr>
              <a:t>Dni „w przyszłość” z czujek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76072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C6B80"/>
                </a:solidFill>
                <a:latin typeface="Calibri"/>
              </a:rPr>
              <a:t>forecast_days=1 + obcięcie do dziś; pionowa linia „Dziś” na wykresie.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37376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80"/>
                </a:solidFill>
                <a:latin typeface="Calibri"/>
              </a:rPr>
              <a:t>AirSense Weather AI   ·   Grupa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75488"/>
            <a:ext cx="603504" cy="6035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E2238"/>
                </a:solidFill>
                <a:latin typeface="Trebuchet MS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5024" y="457200"/>
            <a:ext cx="103327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2263D"/>
                </a:solidFill>
                <a:latin typeface="Trebuchet MS"/>
              </a:rPr>
              <a:t>Model: LSTM Sequence-to-Sequence</a:t>
            </a:r>
          </a:p>
        </p:txBody>
      </p:sp>
      <p:pic>
        <p:nvPicPr>
          <p:cNvPr id="4" name="Picture 3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149268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66560" y="2011680"/>
            <a:ext cx="48463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2263D"/>
                </a:solidFill>
                <a:latin typeface="Calibri"/>
              </a:rPr>
              <a:t>LSTM </a:t>
            </a:r>
            <a:r>
              <a:rPr sz="1500" b="0" i="0">
                <a:solidFill>
                  <a:srgbClr val="12263D"/>
                </a:solidFill>
                <a:latin typeface="Calibri"/>
              </a:rPr>
              <a:t>dobrze modeluje zależności w szeregach czasowych (pamięć krótkiej historii).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2263D"/>
                </a:solidFill>
                <a:latin typeface="Calibri"/>
              </a:rPr>
              <a:t>Seq2Seq: </a:t>
            </a:r>
            <a:r>
              <a:rPr sz="1500" b="0" i="0">
                <a:solidFill>
                  <a:srgbClr val="12263D"/>
                </a:solidFill>
                <a:latin typeface="Calibri"/>
              </a:rPr>
              <a:t>z okna 48 h przewiduje kolejne godziny naprzód jednocześnie.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2263D"/>
                </a:solidFill>
                <a:latin typeface="Calibri"/>
              </a:rPr>
              <a:t>Wielowymiarowość: </a:t>
            </a:r>
            <a:r>
              <a:rPr sz="1500" b="0" i="0">
                <a:solidFill>
                  <a:srgbClr val="12263D"/>
                </a:solidFill>
                <a:latin typeface="Calibri"/>
              </a:rPr>
              <a:t>wszystkie cechy (pogoda + zanieczyszczenia) na wejściu i wyjściu.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2263D"/>
                </a:solidFill>
                <a:latin typeface="Calibri"/>
              </a:rPr>
              <a:t>Dropout 0.2: </a:t>
            </a:r>
            <a:r>
              <a:rPr sz="1500" b="0" i="0">
                <a:solidFill>
                  <a:srgbClr val="12263D"/>
                </a:solidFill>
                <a:latin typeface="Calibri"/>
              </a:rPr>
              <a:t>ogranicza przeuczenie przy stosunkowo małym zbiorze.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2263D"/>
                </a:solidFill>
                <a:latin typeface="Calibri"/>
              </a:rPr>
              <a:t>Dynamiczne wejście: </a:t>
            </a:r>
            <a:r>
              <a:rPr sz="1500" b="0" i="0">
                <a:solidFill>
                  <a:srgbClr val="12263D"/>
                </a:solidFill>
                <a:latin typeface="Calibri"/>
              </a:rPr>
              <a:t>kształt dopasowany do liczby sensorów danej stacji.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80"/>
                </a:solidFill>
                <a:latin typeface="Calibri"/>
              </a:rPr>
              <a:t>AirSense Weather AI   ·   Grupa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75488"/>
            <a:ext cx="603504" cy="6035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E2238"/>
                </a:solidFill>
                <a:latin typeface="Trebuchet MS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5024" y="457200"/>
            <a:ext cx="103327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2263D"/>
                </a:solidFill>
                <a:latin typeface="Trebuchet MS"/>
              </a:rPr>
              <a:t>Trening i konfiguracja modelu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534924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7" y="2029968"/>
            <a:ext cx="47640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2263D"/>
                </a:solidFill>
                <a:latin typeface="Trebuchet MS"/>
              </a:rPr>
              <a:t>Podział 80 / 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505456"/>
            <a:ext cx="4764024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B80"/>
                </a:solidFill>
                <a:latin typeface="Calibri"/>
              </a:rPr>
              <a:t>trening / walidacja / test — chronologicznie, bez tasowania.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7" y="1828800"/>
            <a:ext cx="534924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74536" y="2029968"/>
            <a:ext cx="47640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2263D"/>
                </a:solidFill>
                <a:latin typeface="Trebuchet MS"/>
              </a:rPr>
              <a:t>Okno 48 h → horyzont +1–24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4536" y="2505456"/>
            <a:ext cx="4764024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B80"/>
                </a:solidFill>
                <a:latin typeface="Calibri"/>
              </a:rPr>
              <a:t>model godzinowy; ~700 punktów na 30 dni.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21024"/>
            <a:ext cx="534924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3822191"/>
            <a:ext cx="47640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2263D"/>
                </a:solidFill>
                <a:latin typeface="Trebuchet MS"/>
              </a:rPr>
              <a:t>2× LSTM(64) + Dropout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4297680"/>
            <a:ext cx="4764024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B80"/>
                </a:solidFill>
                <a:latin typeface="Calibri"/>
              </a:rPr>
              <a:t>Dense + Reshape na wyjściu sekwencyjnym.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7" y="3621024"/>
            <a:ext cx="534924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74536" y="3822191"/>
            <a:ext cx="476402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2263D"/>
                </a:solidFill>
                <a:latin typeface="Trebuchet MS"/>
              </a:rPr>
              <a:t>Adam · MSE · early stopping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4297680"/>
            <a:ext cx="4764024" cy="7040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B80"/>
                </a:solidFill>
                <a:latin typeface="Calibri"/>
              </a:rPr>
              <a:t>MinMaxScaler; parametry skalera zapisane do predykcji.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37376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80"/>
                </a:solidFill>
                <a:latin typeface="Calibri"/>
              </a:rPr>
              <a:t>AirSense Weather AI   ·   Grupa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75488"/>
            <a:ext cx="603504" cy="6035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E2238"/>
                </a:solidFill>
                <a:latin typeface="Trebuchet MS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5024" y="457200"/>
            <a:ext cx="103327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2263D"/>
                </a:solidFill>
                <a:latin typeface="Trebuchet MS"/>
              </a:rPr>
              <a:t>Wyniki — realne metryki (dane godzinowe)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6A34A"/>
                </a:solidFill>
                <a:latin typeface="Trebuchet MS"/>
              </a:rPr>
              <a:t>13%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600" y="1847088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C6B80"/>
                </a:solidFill>
                <a:latin typeface="Calibri"/>
              </a:rPr>
              <a:t>błąd wzgl. wilgotności (najlepszy)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61488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3B82F6"/>
                </a:solidFill>
                <a:latin typeface="Trebuchet MS"/>
              </a:rPr>
              <a:t>~3°C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2871216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C6B80"/>
                </a:solidFill>
                <a:latin typeface="Calibri"/>
              </a:rPr>
              <a:t>średni błąd temperatury (MAE)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85616"/>
            <a:ext cx="1920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BBF24"/>
                </a:solidFill>
                <a:latin typeface="Trebuchet MS"/>
              </a:rPr>
              <a:t>≈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3895344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5C6B80"/>
                </a:solidFill>
                <a:latin typeface="Calibri"/>
              </a:rPr>
              <a:t>R² — poziom baseline'u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937760"/>
            <a:ext cx="5166360" cy="1371600"/>
          </a:xfrm>
          <a:prstGeom prst="roundRect">
            <a:avLst>
              <a:gd name="adj" fmla="val 6000"/>
            </a:avLst>
          </a:prstGeom>
          <a:solidFill>
            <a:srgbClr val="F5F8FC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5084064"/>
            <a:ext cx="470916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2263D"/>
                </a:solidFill>
                <a:latin typeface="Calibri"/>
              </a:rPr>
              <a:t>Metryki realne, w jednostkach rzeczywistych. </a:t>
            </a:r>
            <a:r>
              <a:rPr sz="1200" b="0" i="0">
                <a:solidFill>
                  <a:srgbClr val="12263D"/>
                </a:solidFill>
                <a:latin typeface="Calibri"/>
              </a:rPr>
              <a:t>Model łapie krótkoterminowy sygnał (wilgotność, pogoda).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C6B80"/>
                </a:solidFill>
                <a:latin typeface="Calibri"/>
              </a:rPr>
              <a:t>R² bliskie 0 i niestabilne — mały zbiór testowy i tylko ~3 dni danych GIOŚ.</a:t>
            </a:r>
          </a:p>
        </p:txBody>
      </p:sp>
      <p:pic>
        <p:nvPicPr>
          <p:cNvPr id="12" name="Picture 11" descr="metrics_per_fe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828800"/>
            <a:ext cx="5760720" cy="29385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37376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80"/>
                </a:solidFill>
                <a:latin typeface="Calibri"/>
              </a:rPr>
              <a:t>AirSense Weather AI   ·   Grupa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75488"/>
            <a:ext cx="603504" cy="6035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E2238"/>
                </a:solidFill>
                <a:latin typeface="Trebuchet MS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5024" y="457200"/>
            <a:ext cx="103327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2263D"/>
                </a:solidFill>
                <a:latin typeface="Trebuchet MS"/>
              </a:rPr>
              <a:t>Wizualizacje w aplikacji</a:t>
            </a:r>
          </a:p>
        </p:txBody>
      </p:sp>
      <p:pic>
        <p:nvPicPr>
          <p:cNvPr id="4" name="Picture 3" descr="eda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532120" cy="2713388"/>
          </a:xfrm>
          <a:prstGeom prst="rect">
            <a:avLst/>
          </a:prstGeom>
        </p:spPr>
      </p:pic>
      <p:pic>
        <p:nvPicPr>
          <p:cNvPr id="5" name="Picture 4" descr="predi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783080"/>
            <a:ext cx="5532120" cy="27133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526280"/>
            <a:ext cx="5532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2263D"/>
                </a:solidFill>
                <a:latin typeface="Calibri"/>
              </a:rPr>
              <a:t>EDA: dane godzinowe (cykl dobowy) + 24-godzinna średnia krocząca + pionowa linia „Dziś”.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526280"/>
            <a:ext cx="553212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2263D"/>
                </a:solidFill>
                <a:latin typeface="Calibri"/>
              </a:rPr>
              <a:t>Predykcja vs rzeczywistość (zbiór testowy, +1 h): model śledzi ogólny kształt, ale z wyraźnymi błędami.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37376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80"/>
                </a:solidFill>
                <a:latin typeface="Calibri"/>
              </a:rPr>
              <a:t>AirSense Weather AI   ·   Grupa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75488"/>
            <a:ext cx="603504" cy="6035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E2238"/>
                </a:solidFill>
                <a:latin typeface="Trebuchet MS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5024" y="457200"/>
            <a:ext cx="103327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2263D"/>
                </a:solidFill>
                <a:latin typeface="Trebuchet MS"/>
              </a:rPr>
              <a:t>Demo aplikacji (Streamlit)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593592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59" y="2121408"/>
            <a:ext cx="457200" cy="45720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19" y="2084832"/>
            <a:ext cx="2587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B82F6"/>
                </a:solidFill>
                <a:latin typeface="Calibri"/>
              </a:rPr>
              <a:t>Zakładka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19" y="2432304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2263D"/>
                </a:solidFill>
                <a:latin typeface="Trebuchet MS"/>
              </a:rPr>
              <a:t>EDA i Trendy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063240"/>
            <a:ext cx="300837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B80"/>
                </a:solidFill>
                <a:latin typeface="Calibri"/>
              </a:rPr>
              <a:t>Wybór stacji i parametru; wykres odczytów + średnia krocząca 24h + linia „Dziś”.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593592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663440" y="2121408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2084832"/>
            <a:ext cx="2587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7C3AED"/>
                </a:solidFill>
                <a:latin typeface="Calibri"/>
              </a:rPr>
              <a:t>Zakładka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2432304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2263D"/>
                </a:solidFill>
                <a:latin typeface="Trebuchet MS"/>
              </a:rPr>
              <a:t>Model LSTM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3063240"/>
            <a:ext cx="300837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B80"/>
                </a:solidFill>
                <a:latin typeface="Calibri"/>
              </a:rPr>
              <a:t>Konfiguracja i trening modelu; podział 80/10/10; pasek postępu epok na żywo.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3593592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503920" y="2121408"/>
            <a:ext cx="457200" cy="457200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084832"/>
            <a:ext cx="258775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6A34A"/>
                </a:solidFill>
                <a:latin typeface="Calibri"/>
              </a:rPr>
              <a:t>Zakładka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432304"/>
            <a:ext cx="2587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2263D"/>
                </a:solidFill>
                <a:latin typeface="Trebuchet MS"/>
              </a:rPr>
              <a:t>Predykcja i Ewaluacja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3063240"/>
            <a:ext cx="300837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C6B80"/>
                </a:solidFill>
                <a:latin typeface="Calibri"/>
              </a:rPr>
              <a:t>Metryki, edytowalna macierz wejściowa, interaktywny wykres prognozy.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6000"/>
            </a:avLst>
          </a:prstGeom>
          <a:solidFill>
            <a:srgbClr val="0E22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50468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BBF24"/>
                </a:solidFill>
                <a:latin typeface="Calibri"/>
              </a:rPr>
              <a:t>Demo na żywo:  </a:t>
            </a:r>
            <a:r>
              <a:rPr sz="1500" b="1" i="0">
                <a:solidFill>
                  <a:srgbClr val="FFFFFF"/>
                </a:solidFill>
                <a:latin typeface="Consolas"/>
              </a:rPr>
              <a:t>streamlit run app.py</a:t>
            </a:r>
            <a:r>
              <a:rPr sz="1300" b="0" i="0">
                <a:solidFill>
                  <a:srgbClr val="CADCFC"/>
                </a:solidFill>
                <a:latin typeface="Calibri"/>
              </a:rPr>
              <a:t>    (plan awaryjny: zrzuty ekranu / nagranie)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37376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80"/>
                </a:solidFill>
                <a:latin typeface="Calibri"/>
              </a:rPr>
              <a:t>AirSense Weather AI   ·   Grupa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75488"/>
            <a:ext cx="603504" cy="6035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E2238"/>
                </a:solidFill>
                <a:latin typeface="Trebuchet MS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5024" y="457200"/>
            <a:ext cx="103327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2263D"/>
                </a:solidFill>
                <a:latin typeface="Trebuchet MS"/>
              </a:rPr>
              <a:t>Wnioski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1600" b="1" i="0">
                <a:solidFill>
                  <a:srgbClr val="3B82F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2263D"/>
                </a:solidFill>
                <a:latin typeface="Calibri"/>
              </a:rPr>
              <a:t>Działający prototyp klasy MLOps: </a:t>
            </a:r>
            <a:r>
              <a:rPr sz="1600" b="0" i="0">
                <a:solidFill>
                  <a:srgbClr val="12263D"/>
                </a:solidFill>
                <a:latin typeface="Calibri"/>
              </a:rPr>
              <a:t>pełny pipeline od publicznych API po predykcję w aplikacji webowej.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1600" b="1" i="0">
                <a:solidFill>
                  <a:srgbClr val="3B82F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2263D"/>
                </a:solidFill>
                <a:latin typeface="Calibri"/>
              </a:rPr>
              <a:t>Realne dane godzinowe: </a:t>
            </a:r>
            <a:r>
              <a:rPr sz="1600" b="0" i="0">
                <a:solidFill>
                  <a:srgbClr val="12263D"/>
                </a:solidFill>
                <a:latin typeface="Calibri"/>
              </a:rPr>
              <a:t>GIOŚ (zanieczyszczenia) + Open-Meteo (pogoda), czyszczone i łączone automatycznie.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1600" b="1" i="0">
                <a:solidFill>
                  <a:srgbClr val="3B82F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2263D"/>
                </a:solidFill>
                <a:latin typeface="Calibri"/>
              </a:rPr>
              <a:t>Krótkoterminowo model łapie sygnał pogodowy </a:t>
            </a:r>
            <a:r>
              <a:rPr sz="1600" b="0" i="0">
                <a:solidFill>
                  <a:srgbClr val="12263D"/>
                </a:solidFill>
                <a:latin typeface="Calibri"/>
              </a:rPr>
              <a:t>(wilgotność, temperatura) — ale to wciąż prototyp, nie model produkcyjny.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1600" b="1" i="0">
                <a:solidFill>
                  <a:srgbClr val="3B82F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2263D"/>
                </a:solidFill>
                <a:latin typeface="Calibri"/>
              </a:rPr>
              <a:t>Główne ograniczenie: </a:t>
            </a:r>
            <a:r>
              <a:rPr sz="1600" b="0" i="0">
                <a:solidFill>
                  <a:srgbClr val="12263D"/>
                </a:solidFill>
                <a:latin typeface="Calibri"/>
              </a:rPr>
              <a:t>tylko ~3 dni danych GIOŚ i mały zbiór testowy → R² bliskie 0 i niestabilne.</a:t>
            </a:r>
          </a:p>
          <a:p>
            <a:pPr algn="l">
              <a:spcBef>
                <a:spcPts val="0"/>
              </a:spcBef>
              <a:spcAft>
                <a:spcPts val="1500"/>
              </a:spcAft>
            </a:pPr>
            <a:r>
              <a:rPr sz="1600" b="1" i="0">
                <a:solidFill>
                  <a:srgbClr val="3B82F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2263D"/>
                </a:solidFill>
                <a:latin typeface="Calibri"/>
              </a:rPr>
              <a:t>Uczciwa ewaluacja: </a:t>
            </a:r>
            <a:r>
              <a:rPr sz="1600" b="0" i="0">
                <a:solidFill>
                  <a:srgbClr val="12263D"/>
                </a:solidFill>
                <a:latin typeface="Calibri"/>
              </a:rPr>
              <a:t>metryki w jednostkach rzeczywistych, w rozbiciu na cechy, na wydzielonym zbiorze testowym.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37376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80"/>
                </a:solidFill>
                <a:latin typeface="Calibri"/>
              </a:rPr>
              <a:t>AirSense Weather AI   ·   Grupa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48640" y="475488"/>
            <a:ext cx="603504" cy="60350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E2238"/>
                </a:solidFill>
                <a:latin typeface="Trebuchet MS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35024" y="457200"/>
            <a:ext cx="1033272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2263D"/>
                </a:solidFill>
                <a:latin typeface="Trebuchet MS"/>
              </a:rPr>
              <a:t>Kierunki dalszego rozwoju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34924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59536" y="2249424"/>
            <a:ext cx="237744" cy="23774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35024" y="1783080"/>
            <a:ext cx="4343400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2263D"/>
                </a:solidFill>
                <a:latin typeface="Calibri"/>
              </a:rPr>
              <a:t>Dłuższa historia danych niż 30 dni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81927" y="1783080"/>
            <a:ext cx="534924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592823" y="2249424"/>
            <a:ext cx="237744" cy="23774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68312" y="1783080"/>
            <a:ext cx="4343400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2263D"/>
                </a:solidFill>
                <a:latin typeface="Calibri"/>
              </a:rPr>
              <a:t>Więcej miast + automatyczne wykrywanie stacji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264408"/>
            <a:ext cx="534924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59536" y="3730752"/>
            <a:ext cx="237744" cy="23774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35024" y="3264408"/>
            <a:ext cx="4343400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2263D"/>
                </a:solidFill>
                <a:latin typeface="Calibri"/>
              </a:rPr>
              <a:t>Porównanie z GRU, Prophet, XGBoost, Transformerami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81927" y="3264408"/>
            <a:ext cx="534924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92823" y="3730752"/>
            <a:ext cx="237744" cy="23774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68312" y="3264408"/>
            <a:ext cx="4343400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2263D"/>
                </a:solidFill>
                <a:latin typeface="Calibri"/>
              </a:rPr>
              <a:t>Automatyczny, cykliczny re-trening modeli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45736"/>
            <a:ext cx="534924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59536" y="5212080"/>
            <a:ext cx="237744" cy="23774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35024" y="4745736"/>
            <a:ext cx="4343400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2263D"/>
                </a:solidFill>
                <a:latin typeface="Calibri"/>
              </a:rPr>
              <a:t>Zapis historii predykcji w bazie danych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1927" y="4745736"/>
            <a:ext cx="534924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92823" y="5212080"/>
            <a:ext cx="237744" cy="237744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68312" y="4745736"/>
            <a:ext cx="4343400" cy="11704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2263D"/>
                </a:solidFill>
                <a:latin typeface="Calibri"/>
              </a:rPr>
              <a:t>Rozbudowany rejestr modeli z porównaniem metryk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37376"/>
            <a:ext cx="82296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80"/>
                </a:solidFill>
                <a:latin typeface="Calibri"/>
              </a:rPr>
              <a:t>AirSense Weather AI   ·   Grupa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37376"/>
            <a:ext cx="121615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1"/>
          <p:cNvCxnSpPr/>
          <p:nvPr/>
        </p:nvCxnSpPr>
        <p:spPr>
          <a:xfrm>
            <a:off x="1170432" y="1280160"/>
            <a:ext cx="0" cy="4297680"/>
          </a:xfrm>
          <a:prstGeom prst="line">
            <a:avLst/>
          </a:prstGeom>
          <a:ln w="27940">
            <a:solidFill>
              <a:srgbClr val="FBBF2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280160" y="233172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Trebuchet MS"/>
              </a:rPr>
              <a:t>Dziękujemy za uwagę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34747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BBF24"/>
                </a:solidFill>
                <a:latin typeface="Trebuchet MS"/>
              </a:rPr>
              <a:t>Pytania?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51206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ADCFC"/>
                </a:solidFill>
                <a:latin typeface="Calibri"/>
              </a:rPr>
              <a:t>AirSense Weather AI  ·  Grupa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557784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 dirty="0" err="1">
                <a:solidFill>
                  <a:srgbClr val="FFFFFF"/>
                </a:solidFill>
                <a:latin typeface="Consolas"/>
              </a:rPr>
              <a:t>streamlit</a:t>
            </a:r>
            <a:r>
              <a:rPr sz="1400" b="0" i="0" dirty="0">
                <a:solidFill>
                  <a:srgbClr val="FFFFFF"/>
                </a:solidFill>
                <a:latin typeface="Consolas"/>
              </a:rPr>
              <a:t> run app.py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1575</Words>
  <Application>Microsoft Office PowerPoint</Application>
  <PresentationFormat>Panoramiczny</PresentationFormat>
  <Paragraphs>180</Paragraphs>
  <Slides>15</Slides>
  <Notes>15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Trebuchet MS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Administrator</cp:lastModifiedBy>
  <cp:revision>2</cp:revision>
  <dcterms:created xsi:type="dcterms:W3CDTF">2013-01-27T09:14:16Z</dcterms:created>
  <dcterms:modified xsi:type="dcterms:W3CDTF">2026-06-03T17:06:44Z</dcterms:modified>
  <cp:category/>
</cp:coreProperties>
</file>